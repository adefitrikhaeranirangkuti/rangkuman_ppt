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548640"/>
            <a:ext cx="3017520" cy="3017520"/>
          </a:xfrm>
          <a:prstGeom prst="ellipse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1828800"/>
            <a:ext cx="2194560" cy="2194560"/>
          </a:xfrm>
          <a:prstGeom prst="ellipse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3291840"/>
            <a:ext cx="1828800" cy="1828800"/>
          </a:xfrm>
          <a:prstGeom prst="ellipse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6858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7FE1D7"/>
                </a:solidFill>
                <a:latin typeface="Aptos"/>
              </a:defRPr>
            </a:pPr>
            <a:r>
              <a:t>MATERI PERKULIAHAN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704088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RANGKUMAN</a:t>
            </a:r>
            <a:br/>
            <a:r>
              <a:t>PEMROGRAMAN MOBILE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63093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0">
                <a:solidFill>
                  <a:srgbClr val="D2E1EF"/>
                </a:solidFill>
                <a:latin typeface="Aptos"/>
              </a:defRPr>
            </a:pPr>
            <a:r>
              <a:t>Bab 1–6 • Android dengan 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160520"/>
            <a:ext cx="1143000" cy="64008"/>
          </a:xfrm>
          <a:prstGeom prst="rect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62179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C8D6E4"/>
                </a:solidFill>
                <a:latin typeface="Aptos"/>
              </a:defRPr>
            </a:pPr>
            <a:r>
              <a:t>Disusun berdasarkan modul Erma Susanti</a:t>
            </a:r>
            <a:br/>
            <a:r>
              <a:t>Desember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17220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AABED2"/>
                </a:solidFill>
                <a:latin typeface="Aptos"/>
              </a:defRPr>
            </a:pPr>
            <a:r>
              <a:t>Pemrograman • Antarmuka • Proses latar belakang • Penyimpanan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PETA MATERI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Enam bab yang saling berkaitan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Dari dasar pengembangan hingga penyimpanan data online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55648"/>
            <a:ext cx="64008" cy="1472184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22440"/>
                </a:solidFill>
                <a:latin typeface="Aptos"/>
              </a:defRPr>
            </a:pPr>
            <a:r>
              <a:t>01  Pengenalan Android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21992"/>
            <a:ext cx="3136392" cy="9784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2A3544"/>
                </a:solidFill>
                <a:latin typeface="Aptos"/>
              </a:defRPr>
            </a:pPr>
            <a:r>
              <a:t>Konsep Android, perangkat pengembangan, dan project pertama.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6459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55648"/>
            <a:ext cx="64008" cy="147218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792224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22440"/>
                </a:solidFill>
                <a:latin typeface="Aptos"/>
              </a:defRPr>
            </a:pPr>
            <a:r>
              <a:t>02  Komponen Dasar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221992"/>
            <a:ext cx="3136392" cy="9784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2A3544"/>
                </a:solidFill>
                <a:latin typeface="Aptos"/>
              </a:defRPr>
            </a:pPr>
            <a:r>
              <a:t>Activity, Intent, Fragment, dan perpindahan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6459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755648"/>
            <a:ext cx="64008" cy="1472184"/>
          </a:xfrm>
          <a:prstGeom prst="rect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1792224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22440"/>
                </a:solidFill>
                <a:latin typeface="Aptos"/>
              </a:defRPr>
            </a:pPr>
            <a:r>
              <a:t>03  UI/UX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221992"/>
            <a:ext cx="3136392" cy="9784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2A3544"/>
                </a:solidFill>
                <a:latin typeface="Aptos"/>
              </a:defRPr>
            </a:pPr>
            <a:r>
              <a:t>Tampilan, interaksi pengguna, ListView, dan RecyclerView.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904488"/>
            <a:ext cx="64008" cy="1472184"/>
          </a:xfrm>
          <a:prstGeom prst="rect">
            <a:avLst/>
          </a:prstGeom>
          <a:solidFill>
            <a:srgbClr val="E8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941064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22440"/>
                </a:solidFill>
                <a:latin typeface="Aptos"/>
              </a:defRPr>
            </a:pPr>
            <a:r>
              <a:t>04  Background 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370832"/>
            <a:ext cx="3136392" cy="9784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2A3544"/>
                </a:solidFill>
                <a:latin typeface="Aptos"/>
              </a:defRPr>
            </a:pPr>
            <a:r>
              <a:t>AlarmManager, JobScheduler, dan notifikasi.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79476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3904488"/>
            <a:ext cx="64008" cy="1472184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3941064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22440"/>
                </a:solidFill>
                <a:latin typeface="Aptos"/>
              </a:defRPr>
            </a:pPr>
            <a:r>
              <a:t>05  Penyimpanan Lokal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370832"/>
            <a:ext cx="3136392" cy="9784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2A3544"/>
                </a:solidFill>
                <a:latin typeface="Aptos"/>
              </a:defRPr>
            </a:pPr>
            <a:r>
              <a:t>SharedPreferences, internal/eksternal storage, dan SQLite.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379476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3904488"/>
            <a:ext cx="64008" cy="147218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3941064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22440"/>
                </a:solidFill>
                <a:latin typeface="Aptos"/>
              </a:defRPr>
            </a:pPr>
            <a:r>
              <a:t>06  Firebase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4370832"/>
            <a:ext cx="3136392" cy="9784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2A3544"/>
                </a:solidFill>
                <a:latin typeface="Aptos"/>
              </a:defRPr>
            </a:pPr>
            <a:r>
              <a:t>Database cloud, sinkronisasi realtime, serta operasi CRUD.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BAB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Pengenalan Pemrograman Mobile Android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Dasar platform dan lingkungan pengembangan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92240" cy="429768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Android adalah sistem operasi mobile berbasis kernel Linux dan bersifat open source.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Android mendukung berbagai perangkat, seperti smartphone, tablet, TV, mobil, dan wearable device.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Interaksi umum dilakukan melalui layar sentuh, keyboard virtual, sensor, serta perangkat pendukung.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Pengembangan aplikasi menggunakan lingkungan seperti Android Studio, Java Development Kit (JDK), dan Android SDK.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Project pertama membantu mengenal struktur proyek, layout, kode program, serta proses menjalankan aplikasi.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20240"/>
            <a:ext cx="3794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029968"/>
            <a:ext cx="64008" cy="3163824"/>
          </a:xfrm>
          <a:prstGeom prst="rect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066544"/>
            <a:ext cx="34107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496312"/>
            <a:ext cx="3410712" cy="2670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A3544"/>
                </a:solidFill>
                <a:latin typeface="Aptos"/>
              </a:defRPr>
            </a:pPr>
            <a:r>
              <a:t>Android menjadi platform pengembangan yang kaya karena menyediakan antarmuka, fitur perangkat, emulator, serta alat debugging dan profiling.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BAB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Komponen Dasar: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Activity menjadi salah satu bagian utama aplikasi Android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92240" cy="429768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Activity adalah komponen yang mewakili layar atau jendela antarmuka aplikasi.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Satu aplikasi dapat memiliki beberapa Activity dengan tugas berbeda, misalnya halaman utama dan halaman detail.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Tampilan Activity umumnya didefinisikan melalui file layout XML, lalu ditampilkan saat Activity dibuat.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Activity memiliki siklus hidup (lifecycle), mulai dari dibuat, dimulai, berjalan, dijeda, dihentikan, hingga dihancurkan.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Activity perlu dideklarasikan dalam AndroidManifest.xml.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20240"/>
            <a:ext cx="3794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029968"/>
            <a:ext cx="64008" cy="3163824"/>
          </a:xfrm>
          <a:prstGeom prst="rect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066544"/>
            <a:ext cx="34107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496312"/>
            <a:ext cx="3410712" cy="2670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A3544"/>
                </a:solidFill>
                <a:latin typeface="Aptos"/>
              </a:defRPr>
            </a:pPr>
            <a:r>
              <a:t>Pahami lifecycle Activity agar aplikasi dapat merespons perubahan keadaan, seperti saat pengguna berpindah aplikasi.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BAB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Intent, Fragment, dan pertukaran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Komponen pendukung navigasi dan tampilan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01368"/>
            <a:ext cx="64008" cy="3392424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4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67712"/>
            <a:ext cx="3136392" cy="2898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544"/>
                </a:solidFill>
                <a:latin typeface="Aptos"/>
              </a:defRPr>
            </a:pPr>
            <a:r>
              <a:t>• Mekanisme untuk meminta suatu aksi.</a:t>
            </a:r>
            <a:br/>
            <a:br/>
            <a:r>
              <a:t>• Explicit Intent: menunjuk komponen tujuan secara langsung.</a:t>
            </a:r>
            <a:br/>
            <a:br/>
            <a:r>
              <a:t>• Implicit Intent: menyatakan aksi yang dapat ditangani komponen yang sesuai.</a:t>
            </a:r>
            <a:br/>
            <a:br/>
            <a:r>
              <a:t>• Dapat membawa data tambahan menggunakan putExtra().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9164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01368"/>
            <a:ext cx="64008" cy="339242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837944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Fragment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267712"/>
            <a:ext cx="3136392" cy="2898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544"/>
                </a:solidFill>
                <a:latin typeface="Aptos"/>
              </a:defRPr>
            </a:pPr>
            <a:r>
              <a:t>• Bagian antarmuka yang dapat ditempatkan di dalam Activity.</a:t>
            </a:r>
            <a:br/>
            <a:br/>
            <a:r>
              <a:t>• Memiliki lifecycle sendiri yang berkaitan dengan Activity.</a:t>
            </a:r>
            <a:br/>
            <a:br/>
            <a:r>
              <a:t>• Membantu membagi antarmuka menjadi bagian yang lebih modular dan dapat digunakan kembali.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69164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801368"/>
            <a:ext cx="64008" cy="3392424"/>
          </a:xfrm>
          <a:prstGeom prst="rect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837944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Kirim data antar-Activity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267712"/>
            <a:ext cx="3136392" cy="2898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544"/>
                </a:solidFill>
                <a:latin typeface="Aptos"/>
              </a:defRPr>
            </a:pPr>
            <a:r>
              <a:t>• Intent dapat digunakan untuk berpindah layar sekaligus membawa data.</a:t>
            </a:r>
            <a:br/>
            <a:br/>
            <a:r>
              <a:t>• Data dikirim sebagai pasangan key-value.</a:t>
            </a:r>
            <a:br/>
            <a:br/>
            <a:r>
              <a:t>• Activity tujuan membaca data berdasarkan key yang digunakan.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225B96"/>
                </a:solidFill>
                <a:latin typeface="Aptos"/>
              </a:defRPr>
            </a:pPr>
            <a:r>
              <a:t>Contoh alur: pengguna memilih item → Intent membawa informasi → Activity tujuan menampilkan detail.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BAB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Antarmuka Pengguna dan Pengalaman Pengguna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UI/UX membantu aplikasi lebih jelas dan nyaman digunakan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92240" cy="429768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UI (User Interface) adalah antarmuka visual yang digunakan pengguna untuk berinteraksi dengan aplikasi.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UX (User Experience) berkaitan dengan pengalaman pengguna saat menggunakan aplikasi.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View adalah elemen tampilan, seperti Button, TextView, EditText, CheckBox, dan ImageView.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ViewGroup menjadi wadah untuk mengatur View, misalnya LinearLayout, RelativeLayout, dan GridLayout.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Style mengatur tampilan komponen; Theme diterapkan pada Activity atau aplikasi; Localization menyesuaikan konten dengan bahasa pengguna.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Toast menampilkan pesan singkat yang hilang secara otomatis.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20240"/>
            <a:ext cx="3794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029968"/>
            <a:ext cx="64008" cy="3163824"/>
          </a:xfrm>
          <a:prstGeom prst="rect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066544"/>
            <a:ext cx="34107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496312"/>
            <a:ext cx="3410712" cy="2670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A3544"/>
                </a:solidFill>
                <a:latin typeface="Aptos"/>
              </a:defRPr>
            </a:pPr>
            <a:r>
              <a:t>UI yang tertata dan interaksi yang mudah dipahami membantu pengguna menjalankan fungsi aplikasi dengan lebih nyaman.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BAB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Menampilkan kumpulan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ListView dan RecyclerView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38528"/>
            <a:ext cx="64008" cy="2935224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975104"/>
            <a:ext cx="46908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440"/>
                </a:solidFill>
                <a:latin typeface="Aptos"/>
              </a:defRPr>
            </a:pPr>
            <a:r>
              <a:t>ListView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404872"/>
            <a:ext cx="4690872" cy="2441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A3544"/>
                </a:solidFill>
                <a:latin typeface="Aptos"/>
              </a:defRPr>
            </a:pPr>
            <a:r>
              <a:t>• Menampilkan sekumpulan item dalam bentuk daftar.</a:t>
            </a:r>
            <a:br/>
            <a:br/>
            <a:r>
              <a:t>• Item biasanya disiapkan melalui adapter yang menghubungkan data dengan tampilan.</a:t>
            </a:r>
            <a:br/>
            <a:br/>
            <a:r>
              <a:t>• Cocok untuk memahami konsep dasar daftar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50749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938528"/>
            <a:ext cx="64008" cy="293522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975104"/>
            <a:ext cx="46908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440"/>
                </a:solidFill>
                <a:latin typeface="Aptos"/>
              </a:defRPr>
            </a:pPr>
            <a:r>
              <a:t>RecyclerView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404872"/>
            <a:ext cx="4690872" cy="2441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A3544"/>
                </a:solidFill>
                <a:latin typeface="Aptos"/>
              </a:defRPr>
            </a:pPr>
            <a:r>
              <a:t>• Komponen untuk menampilkan daftar dengan pengelolaan item yang lebih fleksibel.</a:t>
            </a:r>
            <a:br/>
            <a:br/>
            <a:r>
              <a:t>• Menggunakan Adapter dan ViewHolder untuk menyiapkan tampilan item.</a:t>
            </a:r>
            <a:br/>
            <a:br/>
            <a:r>
              <a:t>• Dapat mendukung susunan daftar maupun grid.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94960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122440"/>
                </a:solidFill>
                <a:latin typeface="Aptos"/>
              </a:defRPr>
            </a:pPr>
            <a:r>
              <a:t>Prinsip UI/UX: susun informasi secara konsisten, gunakan komponen yang sesuai, dan buat tindakan pengguna mudah dikenali.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BAB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Background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Menjalankan pekerjaan terjadwal di luar interaksi utama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92240" cy="429768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Background task adalah pekerjaan yang dijalankan aplikasi tanpa harus terus berada di layar depan.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AlarmManager menjadwalkan aksi berdasarkan waktu atau interval tertentu dan dapat bekerja ketika perangkat tidur.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AlarmManager sesuai untuk pengingat atau acara lokal yang memerlukan waktu tertentu; penggunaan berlebihan dapat menguras baterai.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JobScheduler menjadwalkan pekerjaan berdasarkan kondisi yang didefinisikan melalui JobInfo.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JobScheduler membantu mengelompokkan pekerjaan agar penggunaan sumber daya lebih efisien.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20240"/>
            <a:ext cx="3794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029968"/>
            <a:ext cx="64008" cy="3163824"/>
          </a:xfrm>
          <a:prstGeom prst="rect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066544"/>
            <a:ext cx="34107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496312"/>
            <a:ext cx="3410712" cy="2670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A3544"/>
                </a:solidFill>
                <a:latin typeface="Aptos"/>
              </a:defRPr>
            </a:pPr>
            <a:r>
              <a:t>Pilih mekanisme penjadwalan berdasarkan kebutuhan. Pada materi, JobScheduler tersedia mulai API 21, sedangkan AlarmManager digunakan untuk aksi berbasis waktu.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BAB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Notification pada Android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Memberi informasi meskipun aplikasi tidak sedang terbuka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583680" cy="429768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Notifikasi adalah pesan aplikasi yang ditampilkan di luar antarmuka utama, biasanya pada status bar dan notification drawer.</a:t>
            </a:r>
          </a:p>
          <a:p>
            <a:pPr>
              <a:spcAft>
                <a:spcPts val="12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Pada Android 8.0 ke atas, notifikasi menggunakan Notification Channel.</a:t>
            </a:r>
          </a:p>
          <a:p>
            <a:pPr>
              <a:spcAft>
                <a:spcPts val="12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NotificationCompat.Builder digunakan untuk mengatur ikon, judul, teks, dan perilaku notifikasi.</a:t>
            </a:r>
          </a:p>
          <a:p>
            <a:pPr>
              <a:spcAft>
                <a:spcPts val="12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PendingIntent dapat menentukan aksi ketika pengguna menekan notifikasi.</a:t>
            </a:r>
          </a:p>
          <a:p>
            <a:pPr>
              <a:spcAft>
                <a:spcPts val="12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Notifikasi dapat diperbarui atau dibatalkan sesuai kebutuhan aplikasi.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011680"/>
            <a:ext cx="3566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2121408"/>
            <a:ext cx="64008" cy="2706624"/>
          </a:xfrm>
          <a:prstGeom prst="rect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157984"/>
            <a:ext cx="31821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Contoh penggunaan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2587752"/>
            <a:ext cx="3182112" cy="2212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A3544"/>
                </a:solidFill>
                <a:latin typeface="Aptos"/>
              </a:defRPr>
            </a:pPr>
            <a:r>
              <a:t>• Pengingat jadwal</a:t>
            </a:r>
            <a:br/>
            <a:r>
              <a:t>• Pemberitahuan agenda</a:t>
            </a:r>
            <a:br/>
            <a:r>
              <a:t>• Informasi proses selesai</a:t>
            </a:r>
            <a:br/>
            <a:r>
              <a:t>• Pesan dari aplikasi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Catatan: saluran notifikasi dan pengaturan izin harus disesuaikan dengan versi Android yang digunakan.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BAB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Penyimpanan Data Internal dan Eksternal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Memilih tempat penyimpanan berdasarkan bentuk dan kebutuhan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92240" cy="429768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SharedPreferences menyimpan data primitif sederhana dalam pasangan key-value.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Internal Storage menyimpan file privat aplikasi pada perangkat; file terkait dihapus ketika aplikasi di-uninstall.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External Storage digunakan untuk file yang perlu diakses atau dibagikan lebih luas; ketersediaannya dapat berubah.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SQLite adalah database lokal untuk data yang terstruktur.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Content Provider dapat mengelola data privat dan memungkinkan data tertentu tersedia bagi komponen atau aplikasi lain.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Penyimpanan di luar perangkat dapat menggunakan jaringan, cloud backup, atau Firebase.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20240"/>
            <a:ext cx="3794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029968"/>
            <a:ext cx="64008" cy="3163824"/>
          </a:xfrm>
          <a:prstGeom prst="rect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066544"/>
            <a:ext cx="34107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496312"/>
            <a:ext cx="3410712" cy="2670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A3544"/>
                </a:solidFill>
                <a:latin typeface="Aptos"/>
              </a:defRPr>
            </a:pPr>
            <a:r>
              <a:t>Tentukan penyimpanan berdasarkan kebutuhan: sederhana, privat, berbentuk file, terstruktur, atau perlu sinkronisasi online.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BAB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SharedPreferences dan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Dua pendekatan penyimpanan lokal yang dibahas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47088"/>
            <a:ext cx="64008" cy="3621024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83664"/>
            <a:ext cx="48280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122440"/>
                </a:solidFill>
                <a:latin typeface="Aptos"/>
              </a:defRPr>
            </a:pPr>
            <a:r>
              <a:t>SharedPreferences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13432"/>
            <a:ext cx="4828032" cy="3127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544"/>
                </a:solidFill>
                <a:latin typeface="Aptos"/>
              </a:defRPr>
            </a:pPr>
            <a:r>
              <a:t>**Cocok untuk:** data sederhana seperti pengaturan, status, atau nilai kecil.</a:t>
            </a:r>
            <a:br/>
            <a:br/>
            <a:r>
              <a:t>• Menyimpan tipe boolean, float, int, long, dan string.</a:t>
            </a:r>
            <a:br/>
            <a:r>
              <a:t>• Data menggunakan pasangan key-value.</a:t>
            </a:r>
            <a:br/>
            <a:r>
              <a:t>• Data dibaca kembali menggunakan key dan nilai default.</a:t>
            </a:r>
            <a:br/>
            <a:r>
              <a:t>• Perubahan dapat disimpan melalui Editor dengan apply() atau commit().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47088"/>
            <a:ext cx="64008" cy="362102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883664"/>
            <a:ext cx="48280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122440"/>
                </a:solidFill>
                <a:latin typeface="Aptos"/>
              </a:defRPr>
            </a:pPr>
            <a:r>
              <a:t>SQLite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313432"/>
            <a:ext cx="4828032" cy="3127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544"/>
                </a:solidFill>
                <a:latin typeface="Aptos"/>
              </a:defRPr>
            </a:pPr>
            <a:r>
              <a:t>**Cocok untuk:** data terstruktur dalam tabel.</a:t>
            </a:r>
            <a:br/>
            <a:br/>
            <a:r>
              <a:t>• Database lokal yang bersifat privat.</a:t>
            </a:r>
            <a:br/>
            <a:r>
              <a:t>• SQLiteDatabase menyediakan operasi database.</a:t>
            </a:r>
            <a:br/>
            <a:r>
              <a:t>• SQLiteOpenHelper membantu pembuatan dan pengelolaan database.</a:t>
            </a:r>
            <a:br/>
            <a:r>
              <a:t>• Contoh pada modul menggunakan data biodata dengan operasi CRUD.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122440"/>
                </a:solidFill>
                <a:latin typeface="Aptos"/>
              </a:defRPr>
            </a:pPr>
            <a:r>
              <a:t>CRUD = Create (menambah), Read (membaca), Update (mengubah), Delete (menghapus).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BAB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Penyimpanan Data Eksternal: Firebase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Menyimpan dan menyinkronkan data melalui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92240" cy="429768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Firebase merupakan layanan cloud yang dapat digunakan aplikasi untuk menyimpan dan berbagi data.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Firebase Realtime Database menggunakan model NoSQL dan menyimpan data dalam bentuk JSON.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Data dapat disinkronkan ke client yang terhubung secara realtime dan tetap tersedia saat aplikasi offline sesuai kemampuan layanan.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Firebase membantu pengembangan aplikasi tanpa perlu menyiapkan infrastruktur server sendiri.</a:t>
            </a:r>
          </a:p>
          <a:p>
            <a:pPr>
              <a:spcAft>
                <a:spcPts val="1100"/>
              </a:spcAft>
              <a:defRPr sz="1700">
                <a:solidFill>
                  <a:srgbClr val="2A3544"/>
                </a:solidFill>
                <a:latin typeface="Aptos"/>
              </a:defRPr>
            </a:pPr>
            <a:r>
              <a:t>•  Modul mempraktikkan operasi CRUD untuk aplikasi agenda sederhana.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20240"/>
            <a:ext cx="3794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029968"/>
            <a:ext cx="64008" cy="3163824"/>
          </a:xfrm>
          <a:prstGeom prst="rect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066544"/>
            <a:ext cx="34107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496312"/>
            <a:ext cx="3410712" cy="2670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A3544"/>
                </a:solidFill>
                <a:latin typeface="Aptos"/>
              </a:defRPr>
            </a:pPr>
            <a:r>
              <a:t>Firebase sesuai ketika data perlu diakses oleh lebih dari satu client dan perubahan perlu disinkronkan melalui cloud.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BAB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Alur dasar penggunaan Firebase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Dari membuat project hingga mengelola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55064"/>
            <a:ext cx="502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60020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Buat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600200"/>
            <a:ext cx="69494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544"/>
                </a:solidFill>
                <a:latin typeface="Aptos"/>
              </a:defRPr>
            </a:pPr>
            <a:r>
              <a:t>Project dibuat melalui Firebase Console.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697479"/>
            <a:ext cx="502920" cy="502920"/>
          </a:xfrm>
          <a:prstGeom prst="ellipse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06624"/>
            <a:ext cx="502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65176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Hubungkan aplikasi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651760"/>
            <a:ext cx="69494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544"/>
                </a:solidFill>
                <a:latin typeface="Aptos"/>
              </a:defRPr>
            </a:pPr>
            <a:r>
              <a:t>Daftarkan aplikasi Android, unduh google-services.json, dan tambahkan konfigurasi SDK.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49039"/>
            <a:ext cx="502920" cy="502920"/>
          </a:xfrm>
          <a:prstGeom prst="ellipse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58183"/>
            <a:ext cx="502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70332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Siapkan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703320"/>
            <a:ext cx="69494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544"/>
                </a:solidFill>
                <a:latin typeface="Aptos"/>
              </a:defRPr>
            </a:pPr>
            <a:r>
              <a:t>Aktifkan Realtime Database dan atur aturan akses dengan aman.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800599"/>
            <a:ext cx="502920" cy="502920"/>
          </a:xfrm>
          <a:prstGeom prst="ellipse">
            <a:avLst/>
          </a:prstGeom>
          <a:solidFill>
            <a:srgbClr val="E8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09743"/>
            <a:ext cx="502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754879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22440"/>
                </a:solidFill>
                <a:latin typeface="Aptos"/>
              </a:defRPr>
            </a:pPr>
            <a:r>
              <a:t>Operasikan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754879"/>
            <a:ext cx="69494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544"/>
                </a:solidFill>
                <a:latin typeface="Aptos"/>
              </a:defRPr>
            </a:pPr>
            <a:r>
              <a:t>Gunakan reference untuk menyimpan, membaca, memperbarui, dan menghapus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715000"/>
            <a:ext cx="10332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5824728"/>
            <a:ext cx="64008" cy="283464"/>
          </a:xfrm>
          <a:prstGeom prst="rect">
            <a:avLst/>
          </a:prstGeom>
          <a:solidFill>
            <a:srgbClr val="E8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5861304"/>
            <a:ext cx="99486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122440"/>
                </a:solidFill>
                <a:latin typeface="Aptos"/>
              </a:defRPr>
            </a:pPr>
            <a:r>
              <a:t>Keamanan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6291072"/>
            <a:ext cx="9948672" cy="-2103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A3544"/>
                </a:solidFill>
                <a:latin typeface="Aptos"/>
              </a:defRPr>
            </a:pPr>
            <a:r>
              <a:t>Aturan database tidak boleh dibiarkan terbuka tanpa pembatasan akses; autentikasi dan rules perlu disesuaikan.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PERBANDINGAN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Memilih media penyimpanan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Ringkasan praktis dari Bab 5 dan Bab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91640"/>
          <a:ext cx="107442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794760"/>
                <a:gridCol w="1828800"/>
                <a:gridCol w="2788920"/>
              </a:tblGrid>
              <a:tr h="6629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Teknologi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Kegunaan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Lokasi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Bentuk data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5B96"/>
                          </a:solidFill>
                          <a:latin typeface="Aptos"/>
                        </a:defRPr>
                      </a:pPr>
                      <a:r>
                        <a:t>SharedPreferences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Pengaturan dan data sederhana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Lokal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Key-value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5B96"/>
                          </a:solidFill>
                          <a:latin typeface="Aptos"/>
                        </a:defRPr>
                      </a:pPr>
                      <a:r>
                        <a:t>Internal Storage</a:t>
                      </a:r>
                    </a:p>
                  </a:txBody>
                  <a:tcPr marL="73152" marR="45720">
                    <a:solidFill>
                      <a:srgbClr val="E9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File privat aplikasi</a:t>
                      </a:r>
                    </a:p>
                  </a:txBody>
                  <a:tcPr marL="73152" marR="45720">
                    <a:solidFill>
                      <a:srgbClr val="E9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Lokal</a:t>
                      </a:r>
                    </a:p>
                  </a:txBody>
                  <a:tcPr marL="73152" marR="45720">
                    <a:solidFill>
                      <a:srgbClr val="E9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File</a:t>
                      </a:r>
                    </a:p>
                  </a:txBody>
                  <a:tcPr marL="73152" marR="45720">
                    <a:solidFill>
                      <a:srgbClr val="E9F2F8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5B96"/>
                          </a:solidFill>
                          <a:latin typeface="Aptos"/>
                        </a:defRPr>
                      </a:pPr>
                      <a:r>
                        <a:t>External Storage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File untuk diakses/dibagikan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Perangkat/eksternal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File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5B96"/>
                          </a:solidFill>
                          <a:latin typeface="Aptos"/>
                        </a:defRPr>
                      </a:pPr>
                      <a:r>
                        <a:t>SQLite</a:t>
                      </a:r>
                    </a:p>
                  </a:txBody>
                  <a:tcPr marL="73152" marR="45720">
                    <a:solidFill>
                      <a:srgbClr val="E9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Data terstruktur</a:t>
                      </a:r>
                    </a:p>
                  </a:txBody>
                  <a:tcPr marL="73152" marR="45720">
                    <a:solidFill>
                      <a:srgbClr val="E9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Lokal</a:t>
                      </a:r>
                    </a:p>
                  </a:txBody>
                  <a:tcPr marL="73152" marR="45720">
                    <a:solidFill>
                      <a:srgbClr val="E9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Tabel database</a:t>
                      </a:r>
                    </a:p>
                  </a:txBody>
                  <a:tcPr marL="73152" marR="45720">
                    <a:solidFill>
                      <a:srgbClr val="E9F2F8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5B96"/>
                          </a:solidFill>
                          <a:latin typeface="Aptos"/>
                        </a:defRPr>
                      </a:pPr>
                      <a:r>
                        <a:t>Firebase Realtime Database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Data yang perlu disinkronkan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Cloud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544"/>
                          </a:solidFill>
                          <a:latin typeface="Aptos"/>
                        </a:defRPr>
                      </a:pPr>
                      <a:r>
                        <a:t>JSON / NoSQL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5852160"/>
            <a:ext cx="10424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0">
                <a:solidFill>
                  <a:srgbClr val="647382"/>
                </a:solidFill>
                <a:latin typeface="Aptos"/>
              </a:defRPr>
            </a:pPr>
            <a:r>
              <a:t>Pemilihan teknologi bergantung pada jenis data, tingkat privasi, dan kebutuhan sinkronisasi.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9796"/>
                </a:solidFill>
                <a:latin typeface="Aptos"/>
              </a:defRPr>
            </a:pPr>
            <a:r>
              <a:t>SINTESIS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22440"/>
                </a:solidFill>
                <a:latin typeface="Aptos"/>
              </a:defRPr>
            </a:pPr>
            <a:r>
              <a:t>Bagaimana konsep-konsep ini bekerja bersama?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97864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Gambaran alur sederhana dalam pengembangan aplikasi Android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45952" cy="13716"/>
          </a:xfrm>
          <a:prstGeom prst="rect">
            <a:avLst/>
          </a:prstGeom>
          <a:solidFill>
            <a:srgbClr val="C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382"/>
                </a:solidFill>
                <a:latin typeface="Aptos"/>
              </a:defRPr>
            </a:pPr>
            <a:r>
              <a:t>Rangkuman 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64738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167128"/>
            <a:ext cx="64008" cy="2112263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203704"/>
            <a:ext cx="16733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Rancang UI/UX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33472"/>
            <a:ext cx="1673352" cy="1618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A3544"/>
                </a:solidFill>
                <a:latin typeface="Aptos"/>
              </a:defRPr>
            </a:pPr>
            <a:r>
              <a:t>Tentukan layar, komponen, dan interaksi.</a:t>
            </a:r>
          </a:p>
        </p:txBody>
      </p:sp>
      <p:sp>
        <p:nvSpPr>
          <p:cNvPr id="13" name="Chevron 12"/>
          <p:cNvSpPr/>
          <p:nvPr/>
        </p:nvSpPr>
        <p:spPr>
          <a:xfrm>
            <a:off x="2679191" y="2926080"/>
            <a:ext cx="256032" cy="411480"/>
          </a:xfrm>
          <a:prstGeom prst="chevron">
            <a:avLst/>
          </a:prstGeom>
          <a:solidFill>
            <a:srgbClr val="64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79" y="205740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79" y="2167128"/>
            <a:ext cx="64008" cy="2112263"/>
          </a:xfrm>
          <a:prstGeom prst="rect">
            <a:avLst/>
          </a:prstGeom>
          <a:solidFill>
            <a:srgbClr val="00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203704"/>
            <a:ext cx="16733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Kelola layar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633472"/>
            <a:ext cx="1673352" cy="1618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A3544"/>
                </a:solidFill>
                <a:latin typeface="Aptos"/>
              </a:defRPr>
            </a:pPr>
            <a:r>
              <a:t>Activity, Fragment, dan Intent mengatur navigasi.</a:t>
            </a:r>
          </a:p>
        </p:txBody>
      </p:sp>
      <p:sp>
        <p:nvSpPr>
          <p:cNvPr id="18" name="Chevron 17"/>
          <p:cNvSpPr/>
          <p:nvPr/>
        </p:nvSpPr>
        <p:spPr>
          <a:xfrm>
            <a:off x="5010912" y="2926080"/>
            <a:ext cx="256032" cy="411480"/>
          </a:xfrm>
          <a:prstGeom prst="chevron">
            <a:avLst/>
          </a:prstGeom>
          <a:solidFill>
            <a:srgbClr val="64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57800" y="205740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57800" y="2167128"/>
            <a:ext cx="64008" cy="2112263"/>
          </a:xfrm>
          <a:prstGeom prst="rect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58968" y="2203704"/>
            <a:ext cx="16733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Jalankan tugas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2633472"/>
            <a:ext cx="1673352" cy="1618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A3544"/>
                </a:solidFill>
                <a:latin typeface="Aptos"/>
              </a:defRPr>
            </a:pPr>
            <a:r>
              <a:t>Background task dan notifikasi menangani proses terjadwal.</a:t>
            </a:r>
          </a:p>
        </p:txBody>
      </p:sp>
      <p:sp>
        <p:nvSpPr>
          <p:cNvPr id="23" name="Chevron 22"/>
          <p:cNvSpPr/>
          <p:nvPr/>
        </p:nvSpPr>
        <p:spPr>
          <a:xfrm>
            <a:off x="7342631" y="2926080"/>
            <a:ext cx="256032" cy="411480"/>
          </a:xfrm>
          <a:prstGeom prst="chevron">
            <a:avLst/>
          </a:prstGeom>
          <a:solidFill>
            <a:srgbClr val="64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89519" y="205740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19" y="2167128"/>
            <a:ext cx="64008" cy="2112263"/>
          </a:xfrm>
          <a:prstGeom prst="rect">
            <a:avLst/>
          </a:prstGeom>
          <a:solidFill>
            <a:srgbClr val="E8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0688" y="2203704"/>
            <a:ext cx="16733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Simpan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0688" y="2633472"/>
            <a:ext cx="1673352" cy="1618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A3544"/>
                </a:solidFill>
                <a:latin typeface="Aptos"/>
              </a:defRPr>
            </a:pPr>
            <a:r>
              <a:t>Pilih SharedPreferences, SQLite, atau penyimpanan file.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674351" y="2926080"/>
            <a:ext cx="256032" cy="411480"/>
          </a:xfrm>
          <a:prstGeom prst="chevron">
            <a:avLst/>
          </a:prstGeom>
          <a:solidFill>
            <a:srgbClr val="64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21240" y="205740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21240" y="2167128"/>
            <a:ext cx="64008" cy="2112263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8" y="2203704"/>
            <a:ext cx="16733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Sinkronkan online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22408" y="2633472"/>
            <a:ext cx="1673352" cy="1618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A3544"/>
                </a:solidFill>
                <a:latin typeface="Aptos"/>
              </a:defRPr>
            </a:pPr>
            <a:r>
              <a:t>Firebase digunakan ketika data perlu disimpan di cloud.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074920"/>
            <a:ext cx="105156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122440"/>
                </a:solidFill>
                <a:latin typeface="Aptos"/>
              </a:defRPr>
            </a:pPr>
            <a:r>
              <a:t>Intinya: aplikasi Android yang baik menggabungkan tampilan yang mudah digunakan, alur navigasi yang jelas, tugas yang efisien, serta penyimpanan data yang sesuai.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7FE1D7"/>
                </a:solidFill>
                <a:latin typeface="Aptos"/>
              </a:defRPr>
            </a:pPr>
            <a:r>
              <a:t>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Fondasi pengembangan aplikasi 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966960" cy="283464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Bab 1 mengenalkan Android dan perangkat pengembangan untuk membangun aplikasi.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Bab 2 membahas komponen pengatur layar, navigasi, serta pertukaran data.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Bab 3 menekankan pentingnya UI/UX dan komponen untuk menampilkan data.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Bab 4 menjelaskan penjadwalan pekerjaan latar belakang dan pemberian notifikasi.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Bab 5 dan Bab 6 membahas penyimpanan lokal serta cloud sesuai kebutuhan aplikasi.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49240"/>
            <a:ext cx="1051560" cy="64008"/>
          </a:xfrm>
          <a:prstGeom prst="rect">
            <a:avLst/>
          </a:prstGeom>
          <a:solidFill>
            <a:srgbClr val="F4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62356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8D6E4"/>
                </a:solidFill>
                <a:latin typeface="Aptos"/>
              </a:defRPr>
            </a:pPr>
            <a:r>
              <a:t>Sumber: Erma Susanti, Pemrograman Mobile Android dengan Java, Desember 2020, Bab 1–6.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800" b="0">
                <a:solidFill>
                  <a:srgbClr val="C8D6E4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